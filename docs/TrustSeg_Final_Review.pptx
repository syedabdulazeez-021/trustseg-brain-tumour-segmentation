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Test Dice vs number of training patients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(3 seeds, fixed test set)</c:v>
                </c:pt>
              </c:strCache>
            </c:strRef>
          </c:tx>
          <c:spPr>
            <a:solidFill>
              <a:srgbClr val="1A1A1A"/>
            </a:solidFill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15</c:v>
                  </c:pt>
                  <c:pt idx="1">
                    <c:v>30</c:v>
                  </c:pt>
                  <c:pt idx="2">
                    <c:v>45</c:v>
                  </c:pt>
                  <c:pt idx="3">
                    <c:v>60</c:v>
                  </c:pt>
                  <c:pt idx="4">
                    <c:v>75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0.6681</c:v>
                </c:pt>
                <c:pt idx="1">
                  <c:v>0.7262</c:v>
                </c:pt>
                <c:pt idx="2">
                  <c:v>0.7496</c:v>
                </c:pt>
                <c:pt idx="3">
                  <c:v>0.7862</c:v>
                </c:pt>
                <c:pt idx="4">
                  <c:v>0.7976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4"/>
          <c:min val="0.62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Dice on retained slices as uncertain cases are referred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Foreground entropy</c:v>
                </c:pt>
              </c:strCache>
            </c:strRef>
          </c:tx>
          <c:spPr>
            <a:solidFill>
              <a:srgbClr val="1A1A1A"/>
            </a:solidFill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0.8075</c:v>
                </c:pt>
                <c:pt idx="1">
                  <c:v>0.8817</c:v>
                </c:pt>
                <c:pt idx="2">
                  <c:v>0.9014</c:v>
                </c:pt>
                <c:pt idx="3">
                  <c:v>0.9176</c:v>
                </c:pt>
                <c:pt idx="4">
                  <c:v>0.9262</c:v>
                </c:pt>
                <c:pt idx="5">
                  <c:v>0.9344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View disagreement</c:v>
                </c:pt>
              </c:strCache>
            </c:strRef>
          </c:tx>
          <c:spPr>
            <a:solidFill>
              <a:srgbClr val="999999"/>
            </a:solidFill>
            <a:ln w="2540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0.8075</c:v>
                </c:pt>
                <c:pt idx="1">
                  <c:v>0.8431</c:v>
                </c:pt>
                <c:pt idx="2">
                  <c:v>0.8603</c:v>
                </c:pt>
                <c:pt idx="3">
                  <c:v>0.8673</c:v>
                </c:pt>
                <c:pt idx="4">
                  <c:v>0.8679</c:v>
                </c:pt>
                <c:pt idx="5">
                  <c:v>0.8644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78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666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reframe: we are not chasing a Dice score. We are asking when the model can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contribution is the evaluation,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geometric-only augmentation choice is deliberate and defensible. Expect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 C is the methodological contribution — it is absent from prior cross-institutional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Control-DU vs LOHO-DU. That one comparison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is the positive, quantitative result that the negative finding in Experiment 1 pointed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methodological claim in the project. Deliver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scores, two jobs. Be ready to explain why we did not just pick the bigger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positive result and the demo feature. Lead with the 0.81 to 0.90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this yourself. If an examiner finds it first it reads as a hole; raised first it reads as rigour.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demo here. Four slices: confident, review, high risk, missed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pre-empts the obvious questions and demonstrates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framing sentence. That is the answer to "what did you actually contribute".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3716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When a Brain Tumour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Model Should Not Be Trusted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multi-institution generalization, data-efficiency and uncertainty study on lower-grade glioma MRI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18288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Azeez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Saripalli Sri Nandan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Dukka Chanakya Tej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069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AM.SC.U4AIE24049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AM.SC.U4AIE24043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AM.SC.U4AIE24070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4069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(Artificial Intelligence)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Vishwa Vidyapeetham, Amritapuri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Dice score describes a population, not the scan in front of you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RESULT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0195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models reach human-comparable Dice on brain tumour MRI. This is a solved-looking problem, and a very common student project.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5440680" cy="2011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TELL YOU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0195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correct on 82% of cases and confidently wrong on the rest is indistinguishable, at the point of use, from one that is always right.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questions, three controlled experiments, 24 trained models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91672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239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1239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unfamiliar hospital degrade accuracy - and if so, is the hospital really the cause?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27448"/>
            <a:ext cx="1109167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823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782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training data does this task need, and how small an effect can this dataset resolve?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85816"/>
            <a:ext cx="11091672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40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model flag its own failures without ground truth, and where does that break down?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SETUP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cohort that is secretly a five-institution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4068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LGG SEGMENTATION COHORT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patients · 3,929 FLAIR slices · 256×256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lower-grade glioma collection via TCIA, released by Buda et al. (2019)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Expert-verified binary FLAIR-abnormality masks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folder is named TCGA_&lt;SITE&gt;_&lt;id&gt;_&lt;date&gt; — the institution is in the filename, and is unused in prior work on this cohort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737360"/>
          <a:ext cx="5440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04088"/>
                <a:gridCol w="704088"/>
                <a:gridCol w="704088"/>
                <a:gridCol w="704088"/>
                <a:gridCol w="704088"/>
                <a:gridCol w="685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99632" y="251460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contributes one patient and stays in training throughout, so four sites are testable. The 45-vs-14 imbalance between DU and FG is what creates the confound in Experiment 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11091672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0233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CONFIGURATION ACROSS ALL 24 MODELS - ONLY THE SPLIT FILE CHANGES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2686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ResNet-34 encoder,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ImageNet-pretrained, 24.4M params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optimiser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462686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BCE · Adam 1e-4 ·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· early stopping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462686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only — intensity augmentation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erase the effect under study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4352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462686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4050, 6 GB VRAM · batch 4 ·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(FP16)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Leave-one-hospital-out has a confound, so we controlled for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9144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confound:  excluding DU removes 45 of 110 patients. Excluding FG removes 14. Site identity and training-set size change together, so any degradation is attributable to either.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91672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60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60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5603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random split across all institutions — the conventional protocol.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0" y="25603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5661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Leave-one-hospital-out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5661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institution excluded from train and validation entirely, used only as the test set.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0" y="35661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1672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5720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72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control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45720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train/val/test patient counts as each LOHO split, but test patients drawn from all institutions.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45720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effect  =  Dice(B) − Dice(C)          Volume effect  =  Dice(C) − Dice(A)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RESULT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hospital is not the cause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600200"/>
                <a:gridCol w="1645920"/>
                <a:gridCol w="1645920"/>
                <a:gridCol w="173736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LOHO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3621024" cy="1316736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986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EFFECT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−0.0020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00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from zero. Three of four sites scored HIGHER unseen.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9392" y="3840480"/>
            <a:ext cx="3621024" cy="1316736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3712" y="3986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EFFECT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−0.0751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553712" y="47000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essentially the entire apparent 0.077 gap.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19288" y="3840480"/>
            <a:ext cx="3621024" cy="1316736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93608" y="3986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≥ 0.21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47000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 reaches significance (Mann-Whitney U, per-patient Dice).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28523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single refutation: Control — DU excluded no institution at all, yet scored 0.6915 — lower than LOHO — DU at 0.7052.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0.8176 reproduces the 0.82 reported by Buda et al. (2019) on this cohort, confirming the backbone is correctly trained.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data does this task actually need?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71600"/>
            <a:ext cx="4233672" cy="1600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CURVE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 = 0.918 − 13.6/(n + 39.8)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1762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ceiling 0.918. Diminishing returns beyond ~96 training patients — more than this cohort contains, so the model is still data-limited.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3127248"/>
            <a:ext cx="4233672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3291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FLOOR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529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0.057 Dice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38953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size, same test set, different patients drawn. Effects below this cannot be resolved.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480560"/>
            <a:ext cx="423367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models  ·  5 sizes × 3 seeds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seeds matter: they separate WHICH patients were drawn from HOW MANY. That is what makes the noise floor a measurement rather than a guess.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— THE DECISIVE COMPARISON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explanation survives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621024" cy="16916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0.1313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spread across the 8 cross-site models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621024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0.0319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learning curve predicts over that training-size range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463040"/>
            <a:ext cx="3621024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0.0566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75904" y="2331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Training-side noise floor (2 SD)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429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cross-site models trained on 55–82 patients — a region where the curve moves by only 0.032. Their scores span 0.131. Neither training size nor seed noise can explain a spread four times larger than either.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00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474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Per-institution validation on fewer than ~50 patients cannot detect domain shift of the magnitude the literature reports. Test-set sampling variance exceeds the effect by roughly 4×. A study this size that reports a site effect is most likely reporting noise.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model flag its own failures?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4068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MC DROPOUT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105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needs dropout layers active at inference. The segmentation-models-pytorch U-Net has none, so it cannot run on these checkpoints without retraining the architecture.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440680" cy="210312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5544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INSTEAD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8105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is predicted 8 times — the four 90° rotations, each with and without a mirror — and every prediction is mapped back. All 8 should coincide. Their disagreement is the uncertainty.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honest choice here:  the model was TRAINED with flips and 90° rotations, so it has every reason to be invariant to them. Disagreement is genuine instability, not an unfamiliar input. We unit-tested that all 8 transforms invert exactly — without that the whole analysis would be invalid.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017520"/>
                <a:gridCol w="2834640"/>
                <a:gridCol w="21305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 vs Dice (tumour slices)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 vs Dice (all slices)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Foreground 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disagreement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entropy ranks better where a tumour is present, but divides by predicted area so its sign inverts on empty slices. View disagreement is weaker but holds its sign everywhere — which is what deployment needs.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— RESULT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Referring the least-confident 20% raises Dice from 0.81 to 0.90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406640" y="13716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bands, validated on 715 slices from 25 patients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719072"/>
          <a:ext cx="4233672" cy="914400"/>
        </p:xfrm>
        <a:graphic>
          <a:graphicData uri="http://schemas.openxmlformats.org/drawingml/2006/table">
            <a:tbl>
              <a:tblPr/>
              <a:tblGrid>
                <a:gridCol w="2039112"/>
                <a:gridCol w="10058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06640" y="3657600"/>
            <a:ext cx="4233672" cy="1554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3822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407822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falls and uncertainty rises monotonically across the bands. That is what makes the traffic light meaningful rather than cosmetic — it is measured on slices chosen independently of the test split.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rho = −0.86 between uncertainty and realised Dice, on 279 tumour-bearing test slices.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 — THE LIMIT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uncertainty mechanism fails, and why it must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224 tumour-bearing slices, 22 (9.8%) are predicted completely empty. They split cleanly in two: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544068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SLICES — CAUGHT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views DO find the abnormality, but the averaged probability never crosses 0.5, so the mask comes out empty while the 8 views are split. The most uncertain state the model can occupy. The system reports these as a possible missed finding.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810512"/>
            <a:ext cx="5440680" cy="219456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9933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SLICES — NOT CAUGHT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2860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exactly zero. All 8 views unanimously find nothing, and all 8 are wrong. There is no signal to detect. This is roughly 5% of tumour-bearing slices.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Disagreement-based uncertainty cannot detect a failure the model is uniformly confident about. This is the structural limit of the method, not an implementation defect — and we measured exactly where it lies.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949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checking uncertainty first: 5.5% of tumour-free slices are flagged high risk. A deliberate trade — a false alarm costs a second look, a missed tumour costs more.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TrustSeg — segmentation that reports its own confidence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081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408176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FLAIR slice is uploaded and resized to 256×256.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109167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579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8-view pass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157984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is predicted 8 times under the D4 symmetry group and every prediction mapped back.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91672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077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907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mask, per-pixel uncertainty heat map, area, hemisphere, how many of the 8 views found an abnormality.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1109167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65760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band: CONFIDENT / REVIEW / HIGH RISK / POSSIBLE MISSED FINDING.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decisions that privilege honesty over appearance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checked BEFORE predicted area.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mask with a split vote is reported as a possible missed finding, never as a clean negative.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583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3583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in pixels unless spacing is supplied.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TIFs carry no pixel spacing, so mm² would be fabricated.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790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779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 comes from the image midline.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as such. Lobe-level localisation would need atlas registration, which we do not perform.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first, so they are evidence of rigour rather than holes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417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14–45 test patients per site we can exclude a large site effect but not a small one. No effect is DETECTABLE at this sample size — that is not the same as none existing.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3500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scanner vendor and protocol are inseparable in TCGA metadata. Even a confirmed effect could not be traced to a specific scanner property.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9167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826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28269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tumour-bearing slices are missed with zero disagreement and cannot be flagged. Fixing this needs an orthogonal uncertainty source, such as a model ensemble.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15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42153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of tumour-free slices are flagged high risk, clustered by patient rather than spread evenly.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102352"/>
            <a:ext cx="11091672" cy="8229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1480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514807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 only, 2D slice-wise, lower-grade glioma. Tumour-type classification is impossible here — every patient shares one diagnosis.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measurement, not an estimate.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24 trained models established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17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is not the cause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4173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effect −0.0020, no significance. Reproduced independently by the learning-curve residuals (−0.0023).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109167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0487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048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validation under ~50 patients is under-powered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40487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variance 0.131 against an explainable effect of 0.032 — a factor of four.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91672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9242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39242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requirement is quantified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39242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0.918 Dice, diminishing returns beyond ~96 patients — more than this cohort holds.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34256"/>
            <a:ext cx="1109167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7997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3799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flag its own failures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37997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= −0.86; referring the least-confident 20% raises Dice 0.81 → 0.90. Its 5% blind spot is measured too.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not a higher Dice score and not a new architecture. It is a reproducible protocol for deciding whether a reported generalization result is real, and which individual predictions to trust.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Ronneberger, Fischer &amp; Brox. "U-Net: Convolutional Networks for Biomedical Image Segmentation." MICCAI, 2015.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He, Zhang, Ren &amp; Sun. "Deep Residual Learning for Image Recognition." IEEE CVPR, 2016.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Isensee et al. "nnU-Net: a self-configuring method for deep learning-based biomedical image segmentation." Nature Methods, 18, 2021.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Zech et al. "Variable generalization performance of a deep learning model to detect pneumonia in chest radiographs." PLOS Medicine, 15(11), 2018.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AlBadawy, Saha &amp; Mazurowski. "Deep learning for segmentation of brain tumors: Impact of cross-institutional training and testing." Medical Physics, 45(3), 2018.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Karani, Chaitanya, Baumgartner &amp; Konukoglu. "A Lifelong Learning Approach to Brain MR Segmentation Across Scanners and Protocols." MICCAI, 2018.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Mårtensson et al. "The reliability of a deep learning model in clinical out-of-distribution MRI data." Medical Image Analysis, 66, 2020.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Gal &amp; Ghahramani. "Dropout as a Bayesian Approximation." ICML, 2016.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Kendall &amp; Gal. "What Uncertainties Do We Need in Bayesian Deep Learning for Computer Vision?" NeurIPS, 2017.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Mehta et al. "QU-BraTS: MICCAI BraTS 2020 Challenge on Quantifying Uncertainty in Brain Tumor Segmentation." MELBA, 2022.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Buda, Saha &amp; Mazurowski. "Association of genomic subtypes of lower-grade gliomas with shape features automatically extracted by a deep learning algorithm." Computers in Biology and Medicine, 109, 2019.  [dataset]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Menze et al. "The Multimodal Brain Tumor Image Segmentation Benchmark (BRATS)." IEEE TMI, 34(10), 2015.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LGG Segmentation Dataset (TCGA-LGG, The Cancer Imaging Archive), released with reference [11].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TrustSeg - Brain Tumour Segmentation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828800" cy="18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Azeez  ·  Saripalli Sri Nandan  ·  Dukka Chanakya Tej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(AI), Amrita Vishwa Vidyapeetham, Amritapuri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2026-10-06T16:26:28Z</dcterms:created>
  <dcterms:modified xsi:type="dcterms:W3CDTF">2026-10-06T16:26:28Z</dcterms:modified>
</cp:coreProperties>
</file>